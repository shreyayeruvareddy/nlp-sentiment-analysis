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7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C3E7A"/>
                </a:solidFill>
                <a:latin typeface="Arial"/>
              </a:rPr>
              <a:t>VADER Compound Score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VADER Compound Score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1D-4F8E-80C8-F49E2C00E240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1D-4F8E-80C8-F49E2C00E240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1D-4F8E-80C8-F49E2C00E240}"/>
              </c:ext>
            </c:extLst>
          </c:dPt>
          <c:dPt>
            <c:idx val="3"/>
            <c:invertIfNegative val="0"/>
            <c:bubble3D val="0"/>
            <c:spPr>
              <a:solidFill>
                <a:srgbClr val="4A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1D-4F8E-80C8-F49E2C00E240}"/>
              </c:ext>
            </c:extLst>
          </c:dPt>
          <c:dPt>
            <c:idx val="4"/>
            <c:invertIfNegative val="0"/>
            <c:bubble3D val="0"/>
            <c:spPr>
              <a:solidFill>
                <a:srgbClr val="2C3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1D-4F8E-80C8-F49E2C00E2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Sports</c:v>
                </c:pt>
                <c:pt idx="3">
                  <c:v>Home &amp; Kitchen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0.187</c:v>
                </c:pt>
                <c:pt idx="1">
                  <c:v>0.30599999999999999</c:v>
                </c:pt>
                <c:pt idx="2">
                  <c:v>0.39700000000000002</c:v>
                </c:pt>
                <c:pt idx="3">
                  <c:v>0.42899999999999999</c:v>
                </c:pt>
                <c:pt idx="4">
                  <c:v>0.45500000000000002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11D-4F8E-80C8-F49E2C00E2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C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44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&amp;  NATURAL LANGUAGE 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 •  TextBlob  •  VADER  •  TF-IDF  •  N-gram Analysis  •  Trend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4114800" cy="36576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Yeruva Bala Shreya Reddy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Computer Science (Data Science)  |  UNC Charlotte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github.com/shreyayeruvareddy/nlp-sentiment-analysis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411480"/>
            <a:ext cx="1737360" cy="960120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0" y="457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0" y="960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0" y="1554480"/>
            <a:ext cx="1737360" cy="960120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2697480"/>
            <a:ext cx="1737360" cy="960120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2376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Acc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1737360" cy="960120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3886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23760" y="4389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Acc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5,000 Amazon reviews across 5 product categories with realistic sentiment patterns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all text using NLTK: tokenize, remove stopwords, lemmatize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96896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sentiment with TextBlob (polarity/subjectivity) and VADER (compound)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63824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12724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 bigrams/trigrams per sentiment class for pattern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730752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6941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monthly sentiment trends by category for business intelligence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TOOLKIT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444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3.9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44475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stopwords, lemmatization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9568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0.20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9568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+ subjectivity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3.3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4688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score for review 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9809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98094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vectorization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49300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005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pandas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050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analysis pipeline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|  github.com/shreyayeruvareddy/nlp-sentiment-analysis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NLP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&gt;&gt;  NLP Process  &gt;&gt;  ML Classify  &gt;&gt;  DB Load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1A1A3E"/>
          </a:solidFill>
          <a:ln w="12700">
            <a:solidFill>
              <a:srgbClr val="E892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data_generator.py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reviews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months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1-5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3200400"/>
          </a:xfrm>
          <a:prstGeom prst="rect">
            <a:avLst/>
          </a:prstGeom>
          <a:solidFill>
            <a:srgbClr val="1A1A3E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2024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2618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0604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039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nlp_processor.py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97480" y="2359152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preprocessing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scoring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scoring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extraction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3200400"/>
          </a:xfrm>
          <a:prstGeom prst="rect">
            <a:avLst/>
          </a:prstGeom>
          <a:solidFill>
            <a:srgbClr val="1A1A3E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20240" cy="7315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2618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039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ml_classifier.py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2359152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classifier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export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3200400"/>
          </a:xfrm>
          <a:prstGeom prst="rect">
            <a:avLst/>
          </a:prstGeom>
          <a:solidFill>
            <a:srgbClr val="1A1A3E"/>
          </a:solidFill>
          <a:ln w="12700">
            <a:solidFill>
              <a:srgbClr val="FFB7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188720"/>
            <a:ext cx="1920240" cy="7315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12618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0372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039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db_loader.py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95160" y="2359152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SQLite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98848"/>
            <a:ext cx="8321040" cy="384048"/>
          </a:xfrm>
          <a:prstGeom prst="rect">
            <a:avLst/>
          </a:prstGeom>
          <a:solidFill>
            <a:srgbClr val="0A0A1E"/>
          </a:solidFill>
          <a:ln w="12700">
            <a:solidFill>
              <a:srgbClr val="4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988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execution time: 52 seconds  |  36 NLP feature columns per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vs VADER — Method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lexicon-based tools  •  Different strengths  •  79.8% agreement rate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84048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 —  87.5%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4813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(-1 to +1) + Subjectivity (0 to 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93392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9933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 = Positive, &lt; -0.1 = Negative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379476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0545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50545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nuanced language well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017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reviews with clear sentiment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379476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E0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2958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352958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 on this dataset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2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005840"/>
            <a:ext cx="3977640" cy="384048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 —  81.8% Accuracy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481328"/>
            <a:ext cx="379476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FFE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48132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4813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(-1 to +1) + pos/neg/neu proportions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993392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19933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19933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0.05 = Positive, &lt; -0.05 = Negative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505456"/>
            <a:ext cx="379476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FFE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250545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250545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slang, caps, punctuation emphasis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017520"/>
            <a:ext cx="3794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0175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3017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informal review text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529584"/>
            <a:ext cx="379476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FFE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52958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52958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 on this dataset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89120"/>
            <a:ext cx="8321040" cy="457200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3891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Agreement: 79.8%  —  TextBlob and VADER agree on 4 out of every 5 reviews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by Product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May 20, 2026  •  5,000 Reviews  •  VADER Compound Scores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1417320"/>
            <a:ext cx="320040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E8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42432" y="141732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39712" y="141732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41.2% negative — quality crisis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189280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42432" y="189280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39712" y="189280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negative — top issue count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368296"/>
            <a:ext cx="320040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E8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42432" y="236829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39712" y="236829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(0.455) — strongest brand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284378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42432" y="28437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39712" y="284378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score — active community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0" y="3319272"/>
            <a:ext cx="3200400" cy="438912"/>
          </a:xfrm>
          <a:prstGeom prst="rect">
            <a:avLst/>
          </a:prstGeom>
          <a:solidFill>
            <a:srgbClr val="F5F5FF"/>
          </a:solidFill>
          <a:ln w="12700">
            <a:solidFill>
              <a:srgbClr val="E8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42432" y="331927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39712" y="3319272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satisfaction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133088"/>
            <a:ext cx="1920240" cy="713232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41513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4517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633472" y="4133088"/>
            <a:ext cx="1920240" cy="713232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633472" y="41513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2633472" y="4517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09744" y="4133088"/>
            <a:ext cx="1920240" cy="713232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09744" y="41513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4809744" y="4517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986016" y="4133088"/>
            <a:ext cx="1920240" cy="713232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986016" y="41513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52s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986016" y="4517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Analysis — Top Bigrams by Sentiment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ngrams()  •  Most frequent word pairs per sentiment class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520440"/>
          </a:xfrm>
          <a:prstGeom prst="rect">
            <a:avLst/>
          </a:prstGeom>
          <a:solidFill>
            <a:srgbClr val="1A1A3E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BIGRAMS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6002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recommend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67712" y="160020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167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good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67712" y="216712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734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home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7712" y="27340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30098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several brands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67712" y="3300984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86791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purchase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67712" y="386791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143000"/>
            <a:ext cx="2651760" cy="3520440"/>
          </a:xfrm>
          <a:prstGeom prst="rect">
            <a:avLst/>
          </a:prstGeom>
          <a:solidFill>
            <a:srgbClr val="1A1A3E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1143000"/>
            <a:ext cx="26517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1143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BIGRAMS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1600200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4992" y="16002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money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60020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2167128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64992" y="2167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2352" y="216712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2734056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4992" y="2734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27340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3300984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4992" y="330098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300984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91840" y="3867912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4992" y="386791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disappointed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386791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35040" y="1143000"/>
            <a:ext cx="2651760" cy="3520440"/>
          </a:xfrm>
          <a:prstGeom prst="rect">
            <a:avLst/>
          </a:prstGeom>
          <a:solidFill>
            <a:srgbClr val="1A1A3E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35040" y="1143000"/>
            <a:ext cx="265176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0" y="1143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BIGRAMS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1600200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9632" y="16002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special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36992" y="160020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26480" y="2167128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99632" y="2167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better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36992" y="216712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26480" y="2734056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99632" y="2734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job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936992" y="27340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126480" y="3300984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199632" y="330098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quality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936992" y="3300984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26480" y="3867912"/>
            <a:ext cx="2468880" cy="475488"/>
          </a:xfrm>
          <a:prstGeom prst="rect">
            <a:avLst/>
          </a:prstGeom>
          <a:solidFill>
            <a:srgbClr val="0D0D2E"/>
          </a:solidFill>
          <a:ln w="12700">
            <a:solidFill>
              <a:srgbClr val="2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99632" y="386791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936992" y="386791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A0A1E"/>
          </a:solidFill>
          <a:ln w="12700">
            <a:solidFill>
              <a:srgbClr val="4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analysis reveals: 'highly recommend' dominates positive  •  'waste money' leads negative  •  Clear lexical separation between classes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E892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804672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14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stopwords, lemmatization, cleaning (NLTK)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64008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014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(-1 to +1) and subjectivity (0 to 1) scoring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64008" cy="80467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975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scoring optimized for review/social 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FFB7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64008" cy="80467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975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vectorization with bigram features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64008" cy="8046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bigrams/trigrams per sentiment class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4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64008" cy="804672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sentiment trends by category, 16 months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6400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8953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 Eng.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224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Exclamation count, negation flags, pos/neg word ratios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114800" cy="804672"/>
          </a:xfrm>
          <a:prstGeom prst="rect">
            <a:avLst/>
          </a:prstGeom>
          <a:solidFill>
            <a:srgbClr val="1A1A3E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64008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38953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Tableau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4224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schema + Tableau-ready CSV exports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github.com/shreyayeruvareddy/nlp-sentiment-analysis  |  Dec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 — Amazon Product Reviews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solidFill>
            <a:srgbClr val="1A1A3E"/>
          </a:solidFill>
          <a:ln w="12700">
            <a:solidFill>
              <a:srgbClr val="4A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2286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github.com/shreyayeruvareddy/nlp-sentiment-analysis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3.11  •  NLTK  •  TextBlob  •  VADER  •  5,000 Reviews  •  Dec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698</Words>
  <Application>Microsoft Office PowerPoint</Application>
  <PresentationFormat>On-screen Show (16:9)</PresentationFormat>
  <Paragraphs>181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Sentiment Analysis — Amazon Product Reviews</dc:title>
  <dc:subject>PptxGenJS Presentation</dc:subject>
  <dc:creator>PptxGenJS</dc:creator>
  <cp:lastModifiedBy>Shreya Reddy</cp:lastModifiedBy>
  <cp:revision>2</cp:revision>
  <dcterms:created xsi:type="dcterms:W3CDTF">2026-05-21T17:36:44Z</dcterms:created>
  <dcterms:modified xsi:type="dcterms:W3CDTF">2026-05-21T17:55:56Z</dcterms:modified>
</cp:coreProperties>
</file>